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40080" y="3657600"/>
            <a:ext cx="10911535" cy="26517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0"/>
            <a:ext cx="10820095" cy="2468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b="1" sz="1600">
                <a:solidFill>
                  <a:srgbClr val="0F172A"/>
                </a:solidFill>
                <a:latin typeface="Segoe UI"/>
              </a:defRPr>
            </a:pPr>
            <a:r>
              <a:t>Team Name : </a:t>
            </a:r>
            <a:r>
              <a:rPr b="0">
                <a:solidFill>
                  <a:srgbClr val="334155"/>
                </a:solidFill>
              </a:rPr>
              <a:t>vamsi krishna</a:t>
            </a:r>
          </a:p>
          <a:p>
            <a:pPr>
              <a:spcBef>
                <a:spcPts val="800"/>
              </a:spcBef>
              <a:defRPr b="1" sz="1600">
                <a:solidFill>
                  <a:srgbClr val="0F172A"/>
                </a:solidFill>
                <a:latin typeface="Segoe UI"/>
              </a:defRPr>
            </a:pPr>
            <a:r>
              <a:t>Team Leader Name : </a:t>
            </a:r>
            <a:r>
              <a:rPr b="0">
                <a:solidFill>
                  <a:srgbClr val="334155"/>
                </a:solidFill>
              </a:rPr>
              <a:t>vamshi krishna vemula(leader)</a:t>
            </a:r>
          </a:p>
          <a:p>
            <a:pPr>
              <a:spcBef>
                <a:spcPts val="800"/>
              </a:spcBef>
              <a:defRPr b="1" sz="1600">
                <a:solidFill>
                  <a:srgbClr val="0F172A"/>
                </a:solidFill>
                <a:latin typeface="Segoe UI"/>
              </a:defRPr>
            </a:pPr>
            <a:r>
              <a:t>Problem Statement : </a:t>
            </a:r>
            <a:r>
              <a:rPr b="0">
                <a:solidFill>
                  <a:srgbClr val="334155"/>
                </a:solidFill>
              </a:rPr>
              <a:t>Design and build an offline, production-grade candidate ranking system that accurately identifies the top 100 fits from a 100,000 candidate pool for a 'Senior AI Engineer' role in under 5 minutes on CPU, programmatically detecting and filtering out all keyword stuffers, fake startups, and honeypot profiles.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40080" y="1828800"/>
            <a:ext cx="10911535" cy="44805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920240"/>
            <a:ext cx="51206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600" b="1">
                <a:solidFill>
                  <a:srgbClr val="0F172A"/>
                </a:solidFill>
                <a:latin typeface="Segoe UI"/>
              </a:defRPr>
            </a:pPr>
            <a:r>
              <a:t>• Proposed Solution: Hybrid Scorer</a:t>
            </a:r>
          </a:p>
          <a:p>
            <a:pPr>
              <a:spcAft>
                <a:spcPts val="2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   Blends semantic text similarity (TF-IDF cosine similarity) with a multi-criteria structured profile scorer.</a:t>
            </a:r>
          </a:p>
          <a:p>
            <a:pPr>
              <a:spcAft>
                <a:spcPts val="2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   Builds unified candidate document strings from Headlines, Summaries, Job Histories, and Skills.</a:t>
            </a:r>
          </a:p>
          <a:p>
            <a:pPr>
              <a:spcAft>
                <a:spcPts val="2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   Optimized for zero-network, local execution within strict CPU and memory bounds.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1600" b="1">
                <a:solidFill>
                  <a:srgbClr val="0F172A"/>
                </a:solidFill>
                <a:latin typeface="Segoe UI"/>
              </a:defRPr>
            </a:pPr>
            <a:r>
              <a:t>• Zero-Honeypot Enforcement Engine</a:t>
            </a:r>
          </a:p>
          <a:p>
            <a:pPr>
              <a:spcAft>
                <a:spcPts val="2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   Applies hard heuristics to catch fake profiles claiming start dates at Krutrim or Sarvam AI prior to their actual 2023 founding.</a:t>
            </a:r>
          </a:p>
          <a:p>
            <a:pPr>
              <a:spcAft>
                <a:spcPts val="2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   Catches zero-duration skills where candidates claim 'expert' status but specify exactly 0 months of duration.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82512" y="1920240"/>
            <a:ext cx="51206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600" b="1">
                <a:solidFill>
                  <a:srgbClr val="0F172A"/>
                </a:solidFill>
                <a:latin typeface="Segoe UI"/>
              </a:defRPr>
            </a:pPr>
            <a:r>
              <a:t>• Key Differentiators</a:t>
            </a:r>
          </a:p>
          <a:p>
            <a:pPr>
              <a:spcAft>
                <a:spcPts val="2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   Operational Feasibility: Incorporates notice period (favoring &lt;=30 days) and location compatibilities (Pune/Noida focus).</a:t>
            </a:r>
          </a:p>
          <a:p>
            <a:pPr>
              <a:spcAft>
                <a:spcPts val="2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   Behavioral Reachability Model: Adjusts scores using actual activity, response rates, and interview completion flags.</a:t>
            </a:r>
          </a:p>
          <a:p>
            <a:pPr>
              <a:spcAft>
                <a:spcPts val="2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   No Hallucinations: Uses factual template compilation for candidate reasonings instead of generative LLMs.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40080" y="1828800"/>
            <a:ext cx="10911535" cy="44805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920240"/>
            <a:ext cx="51206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600" b="1">
                <a:solidFill>
                  <a:srgbClr val="0F172A"/>
                </a:solidFill>
                <a:latin typeface="Segoe UI"/>
              </a:defRPr>
            </a:pPr>
            <a:r>
              <a:t>• Core Job Description Requirements</a:t>
            </a:r>
          </a:p>
          <a:p>
            <a:pPr>
              <a:spcAft>
                <a:spcPts val="2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   Experience Band: 5-9 years of total experience preferred.</a:t>
            </a:r>
          </a:p>
          <a:p>
            <a:pPr>
              <a:spcAft>
                <a:spcPts val="2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   Technical Depth: Sentence-transformers, embeddings, and vector databases (Pinecone, Qdrant, Milvus, Weaviate, FAISS).</a:t>
            </a:r>
          </a:p>
          <a:p>
            <a:pPr>
              <a:spcAft>
                <a:spcPts val="2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   Rigorous Evaluation: Production knowledge of ranking metrics (NDCG, MAP, MRR) and online A/B testing.</a:t>
            </a:r>
          </a:p>
          <a:p>
            <a:pPr>
              <a:spcAft>
                <a:spcPts val="2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   Background Filter: Disqualifies candidates whose entire careers are solely in services/consulting firms (TCS, Wipro, Infosys).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82512" y="1920240"/>
            <a:ext cx="51206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600" b="1">
                <a:solidFill>
                  <a:srgbClr val="0F172A"/>
                </a:solidFill>
                <a:latin typeface="Segoe UI"/>
              </a:defRPr>
            </a:pPr>
            <a:r>
              <a:t>• Signal Weights &amp; Importance</a:t>
            </a:r>
          </a:p>
          <a:p>
            <a:pPr>
              <a:spcAft>
                <a:spcPts val="2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   Experience Years (25% Weight): Scored at 1.0 for preferred 5-9 years, with linear decay below 5 and slow decay above 9.</a:t>
            </a:r>
          </a:p>
          <a:p>
            <a:pPr>
              <a:spcAft>
                <a:spcPts val="2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   Role Alignment (25% Weight): Scours headlines and current/past titles for AI/ML keywords vs backend/unrelated titles.</a:t>
            </a:r>
          </a:p>
          <a:p>
            <a:pPr>
              <a:spcAft>
                <a:spcPts val="2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   Skill Match (50% Weight): Core skills weighted strictly by proficiency (expert=1.0) and duration (capped at 36 months).</a:t>
            </a:r>
          </a:p>
          <a:p>
            <a:pPr>
              <a:spcAft>
                <a:spcPts val="2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   Multipliers: Location (Noida/Pune local = 1.0, relocations = 0.95), Availability (&lt;=30d = 1.0, &lt;=90d = 0.8), Engagement (Activity recency).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40080" y="1828800"/>
            <a:ext cx="10911535" cy="44805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920240"/>
            <a:ext cx="51206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600" b="1">
                <a:solidFill>
                  <a:srgbClr val="0F172A"/>
                </a:solidFill>
                <a:latin typeface="Segoe UI"/>
              </a:defRPr>
            </a:pPr>
            <a:r>
              <a:t>• Vectorization &amp; Cosine Similarity</a:t>
            </a:r>
          </a:p>
          <a:p>
            <a:pPr>
              <a:spcAft>
                <a:spcPts val="2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   Fits a local TfidfVectorizer on all 100K candidates with a vocabulary cap of 15,000 features.</a:t>
            </a:r>
          </a:p>
          <a:p>
            <a:pPr>
              <a:spcAft>
                <a:spcPts val="2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   Computes the cosine similarity of candidate document vectors against the job description text.</a:t>
            </a:r>
          </a:p>
          <a:p>
            <a:pPr>
              <a:spcAft>
                <a:spcPts val="2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   Offsets TF-IDF score by +0.05 to allow structured criteria to rank candidates even with lower text overlap.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1600" b="1">
                <a:solidFill>
                  <a:srgbClr val="0F172A"/>
                </a:solidFill>
                <a:latin typeface="Segoe UI"/>
              </a:defRPr>
            </a:pPr>
            <a:r>
              <a:t>• Hard Vetting &amp; Exclusions</a:t>
            </a:r>
          </a:p>
          <a:p>
            <a:pPr>
              <a:spcAft>
                <a:spcPts val="2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   Honeypot Filter: Disqualifies all fake candidate records (score set to 0.0).</a:t>
            </a:r>
          </a:p>
          <a:p>
            <a:pPr>
              <a:spcAft>
                <a:spcPts val="2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   Consulting Excluder: Drops candidates whose entire careers lie in consulting (TCS/Infosys/Wipro).</a:t>
            </a:r>
          </a:p>
          <a:p>
            <a:pPr>
              <a:spcAft>
                <a:spcPts val="2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   Current Role Check: Rejects candidates with unrelated current roles.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82512" y="1920240"/>
            <a:ext cx="51206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600" b="1">
                <a:solidFill>
                  <a:srgbClr val="0F172A"/>
                </a:solidFill>
                <a:latin typeface="Segoe UI"/>
              </a:defRPr>
            </a:pPr>
            <a:r>
              <a:t>• Mathematical Signal Fusion</a:t>
            </a:r>
          </a:p>
          <a:p>
            <a:pPr>
              <a:spcAft>
                <a:spcPts val="2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   Calculates Score = (Sim + 0.05) x Structured_Score x Location_Mult x Notice_Mult x Behavior_Mult.</a:t>
            </a:r>
          </a:p>
          <a:p>
            <a:pPr>
              <a:spcAft>
                <a:spcPts val="2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   Location Multiplier: Noida/Pune preferred (1.0), Tier-1 India relocations (0.95), other India (0.7), international (0.1).</a:t>
            </a:r>
          </a:p>
          <a:p>
            <a:pPr>
              <a:spcAft>
                <a:spcPts val="2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   Availability Multiplier: &lt;=30 days notice (1.0), &lt;=90 days (0.8), &gt;90 days (0.5).</a:t>
            </a:r>
          </a:p>
          <a:p>
            <a:pPr>
              <a:spcAft>
                <a:spcPts val="2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   Behavioral Multiplier: inactivity_decay x open_to_work x response_rate x response_time x interview_completion.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40080" y="1828800"/>
            <a:ext cx="10911535" cy="44805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920240"/>
            <a:ext cx="51206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600" b="1">
                <a:solidFill>
                  <a:srgbClr val="0F172A"/>
                </a:solidFill>
                <a:latin typeface="Segoe UI"/>
              </a:defRPr>
            </a:pPr>
            <a:r>
              <a:t>• Deterministic Factual Explanations</a:t>
            </a:r>
          </a:p>
          <a:p>
            <a:pPr>
              <a:spcAft>
                <a:spcPts val="2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   Explanations are generated programmatically using a compiler with four distinct grammatical templates.</a:t>
            </a:r>
          </a:p>
          <a:p>
            <a:pPr>
              <a:spcAft>
                <a:spcPts val="2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   Injects actual profile variables (years of experience, current title, key skills, location, notice period, response rate).</a:t>
            </a:r>
          </a:p>
          <a:p>
            <a:pPr>
              <a:spcAft>
                <a:spcPts val="2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   Factual Guarantee: Completely eliminates hallucinations, ensuring every generated reasoning is backed by database properties.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1600" b="1">
                <a:solidFill>
                  <a:srgbClr val="0F172A"/>
                </a:solidFill>
                <a:latin typeface="Segoe UI"/>
              </a:defRPr>
            </a:pPr>
            <a:r>
              <a:t>• Dynamic Concern Flags</a:t>
            </a:r>
          </a:p>
          <a:p>
            <a:pPr>
              <a:spcAft>
                <a:spcPts val="2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   Automatically appends warning flags to the reasoning for candidates who have high notice periods (&gt;60 days).</a:t>
            </a:r>
          </a:p>
          <a:p>
            <a:pPr>
              <a:spcAft>
                <a:spcPts val="2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   Notes if experience falls slightly outside the preferred 5-9 years band, providing recruiters full visibility.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82512" y="1920240"/>
            <a:ext cx="51206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600" b="1">
                <a:solidFill>
                  <a:srgbClr val="0F172A"/>
                </a:solidFill>
                <a:latin typeface="Segoe UI"/>
              </a:defRPr>
            </a:pPr>
            <a:r>
              <a:t>• Data Validation &amp; Suspicious Profile Handling</a:t>
            </a:r>
          </a:p>
          <a:p>
            <a:pPr>
              <a:spcAft>
                <a:spcPts val="2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   Krutrim/Sarvam Founders: Excludes profiles claiming start dates before the startups' actual 2023 registration.</a:t>
            </a:r>
          </a:p>
          <a:p>
            <a:pPr>
              <a:spcAft>
                <a:spcPts val="2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   Zero-month Experts: Identifies keyword-stuffers claiming 'expert' skills but recording 0 months of duration.</a:t>
            </a:r>
          </a:p>
          <a:p>
            <a:pPr>
              <a:spcAft>
                <a:spcPts val="2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   Deterministic Tie-Breaker: Sorts score ties by candidate_id ascending to ensure strict schema validation compatibility.</a:t>
            </a:r>
          </a:p>
          <a:p>
            <a:pPr>
              <a:spcAft>
                <a:spcPts val="2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   Failsafe Format Check: Output runs through validate_submission.py to guarantee monotonicity and 100 rows.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40080" y="1828800"/>
            <a:ext cx="10911535" cy="44805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920240"/>
            <a:ext cx="51206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600" b="1">
                <a:solidFill>
                  <a:srgbClr val="0F172A"/>
                </a:solidFill>
                <a:latin typeface="Segoe UI"/>
              </a:defRPr>
            </a:pPr>
            <a:r>
              <a:t>• Data Ingest &amp; Parsing</a:t>
            </a:r>
          </a:p>
          <a:p>
            <a:pPr>
              <a:spcAft>
                <a:spcPts val="2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   Ingests candidates.jsonl line-by-line using a memory-friendly generator.</a:t>
            </a:r>
          </a:p>
          <a:p>
            <a:pPr>
              <a:spcAft>
                <a:spcPts val="2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   Loads and parses job_description.md to extract search keywords.</a:t>
            </a:r>
          </a:p>
          <a:p>
            <a:pPr>
              <a:spcAft>
                <a:spcPts val="2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   First-pass scan detects the latest platform activity date (2026-05-27) for relative inactivity math.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1600" b="1">
                <a:solidFill>
                  <a:srgbClr val="0F172A"/>
                </a:solidFill>
                <a:latin typeface="Segoe UI"/>
              </a:defRPr>
            </a:pPr>
            <a:r>
              <a:t>• Pre-filtering &amp; Text Indexing</a:t>
            </a:r>
          </a:p>
          <a:p>
            <a:pPr>
              <a:spcAft>
                <a:spcPts val="2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   Instantly excludes 94 honeypot candidates and non-product profiles.</a:t>
            </a:r>
          </a:p>
          <a:p>
            <a:pPr>
              <a:spcAft>
                <a:spcPts val="2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   Builds combined profile text and runs scikit-learn TF-IDF fit-transform on the remaining candidates.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82512" y="1920240"/>
            <a:ext cx="51206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600" b="1">
                <a:solidFill>
                  <a:srgbClr val="0F172A"/>
                </a:solidFill>
                <a:latin typeface="Segoe UI"/>
              </a:defRPr>
            </a:pPr>
            <a:r>
              <a:t>• Structured Scoring &amp; Signal Fusion</a:t>
            </a:r>
          </a:p>
          <a:p>
            <a:pPr>
              <a:spcAft>
                <a:spcPts val="2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   Calculates structured experience, title, and skill duration scores.</a:t>
            </a:r>
          </a:p>
          <a:p>
            <a:pPr>
              <a:spcAft>
                <a:spcPts val="2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   Applies location, availability, and behavioral multipliers to scale the base score.</a:t>
            </a:r>
          </a:p>
          <a:p>
            <a:pPr>
              <a:spcAft>
                <a:spcPts val="2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   Sorts candidates descending by final score, breaking ties by candidate_id ascending.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1600" b="1">
                <a:solidFill>
                  <a:srgbClr val="0F172A"/>
                </a:solidFill>
                <a:latin typeface="Segoe UI"/>
              </a:defRPr>
            </a:pPr>
            <a:r>
              <a:t>• Reasoning Compilation &amp; Output</a:t>
            </a:r>
          </a:p>
          <a:p>
            <a:pPr>
              <a:spcAft>
                <a:spcPts val="2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   Compiles reasoning strings for the top 100 candidates based on actual metrics.</a:t>
            </a:r>
          </a:p>
          <a:p>
            <a:pPr>
              <a:spcAft>
                <a:spcPts val="2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   Writes output to vamsi_krishna.csv.</a:t>
            </a:r>
          </a:p>
          <a:p>
            <a:pPr>
              <a:spcAft>
                <a:spcPts val="2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   Runs format validation checks.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40080" y="1828800"/>
            <a:ext cx="10911535" cy="44805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1691640" cy="13716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54864" rIns="54864" bIns="54864"/>
          <a:lstStyle/>
          <a:p>
            <a:pPr algn="l">
              <a:defRPr sz="1100" b="1">
                <a:solidFill>
                  <a:srgbClr val="0F172A"/>
                </a:solidFill>
                <a:latin typeface="Segoe UI"/>
              </a:defRPr>
            </a:pPr>
            <a:r>
              <a:t>Data Ingestion</a:t>
            </a:r>
            <a:br/>
            <a:r>
              <a:t>&amp; Inactivity Scan</a:t>
            </a:r>
          </a:p>
          <a:p>
            <a:pPr>
              <a:spcBef>
                <a:spcPts val="300"/>
              </a:spcBef>
              <a:defRPr sz="800">
                <a:solidFill>
                  <a:srgbClr val="334155"/>
                </a:solidFill>
                <a:latin typeface="Segoe UI"/>
              </a:defRPr>
            </a:pPr>
            <a:r>
              <a:t>• candidates.jsonl Ingest</a:t>
            </a:r>
          </a:p>
          <a:p>
            <a:pPr>
              <a:spcBef>
                <a:spcPts val="300"/>
              </a:spcBef>
              <a:defRPr sz="800">
                <a:solidFill>
                  <a:srgbClr val="334155"/>
                </a:solidFill>
                <a:latin typeface="Segoe UI"/>
              </a:defRPr>
            </a:pPr>
            <a:r>
              <a:t>• Max Active Date Scan</a:t>
            </a:r>
          </a:p>
          <a:p>
            <a:pPr>
              <a:spcBef>
                <a:spcPts val="300"/>
              </a:spcBef>
              <a:defRPr sz="800">
                <a:solidFill>
                  <a:srgbClr val="334155"/>
                </a:solidFill>
                <a:latin typeface="Segoe UI"/>
              </a:defRPr>
            </a:pPr>
            <a:r>
              <a:t>• JD Text Parsing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468880" y="2679192"/>
            <a:ext cx="457200" cy="219456"/>
          </a:xfrm>
          <a:prstGeom prst="rightArrow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971800" y="2103120"/>
            <a:ext cx="1691640" cy="13716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54864" rIns="54864" bIns="54864"/>
          <a:lstStyle/>
          <a:p>
            <a:pPr algn="l">
              <a:defRPr sz="1100" b="1">
                <a:solidFill>
                  <a:srgbClr val="0F172A"/>
                </a:solidFill>
                <a:latin typeface="Segoe UI"/>
              </a:defRPr>
            </a:pPr>
            <a:r>
              <a:t>Pre-Filtering</a:t>
            </a:r>
            <a:br/>
            <a:r>
              <a:t>Engine</a:t>
            </a:r>
          </a:p>
          <a:p>
            <a:pPr>
              <a:spcBef>
                <a:spcPts val="300"/>
              </a:spcBef>
              <a:defRPr sz="800">
                <a:solidFill>
                  <a:srgbClr val="334155"/>
                </a:solidFill>
                <a:latin typeface="Segoe UI"/>
              </a:defRPr>
            </a:pPr>
            <a:r>
              <a:t>• Honeypots Excluded</a:t>
            </a:r>
          </a:p>
          <a:p>
            <a:pPr>
              <a:spcBef>
                <a:spcPts val="300"/>
              </a:spcBef>
              <a:defRPr sz="800">
                <a:solidFill>
                  <a:srgbClr val="334155"/>
                </a:solidFill>
                <a:latin typeface="Segoe UI"/>
              </a:defRPr>
            </a:pPr>
            <a:r>
              <a:t>• Consulting Excluded</a:t>
            </a:r>
          </a:p>
          <a:p>
            <a:pPr>
              <a:spcBef>
                <a:spcPts val="300"/>
              </a:spcBef>
              <a:defRPr sz="800">
                <a:solidFill>
                  <a:srgbClr val="334155"/>
                </a:solidFill>
                <a:latin typeface="Segoe UI"/>
              </a:defRPr>
            </a:pPr>
            <a:r>
              <a:t>• Non-Tech Title Filter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709160" y="2679192"/>
            <a:ext cx="457200" cy="219456"/>
          </a:xfrm>
          <a:prstGeom prst="rightArrow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212080" y="2103120"/>
            <a:ext cx="1691640" cy="13716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54864" rIns="54864" bIns="54864"/>
          <a:lstStyle/>
          <a:p>
            <a:pPr algn="l">
              <a:defRPr sz="1100" b="1">
                <a:solidFill>
                  <a:srgbClr val="0F172A"/>
                </a:solidFill>
                <a:latin typeface="Segoe UI"/>
              </a:defRPr>
            </a:pPr>
            <a:r>
              <a:t>TF-IDF Vector</a:t>
            </a:r>
            <a:br/>
            <a:r>
              <a:t>Similarity Engine</a:t>
            </a:r>
          </a:p>
          <a:p>
            <a:pPr>
              <a:spcBef>
                <a:spcPts val="300"/>
              </a:spcBef>
              <a:defRPr sz="800">
                <a:solidFill>
                  <a:srgbClr val="334155"/>
                </a:solidFill>
                <a:latin typeface="Segoe UI"/>
              </a:defRPr>
            </a:pPr>
            <a:r>
              <a:t>• TfidfVectorizer Fit</a:t>
            </a:r>
          </a:p>
          <a:p>
            <a:pPr>
              <a:spcBef>
                <a:spcPts val="300"/>
              </a:spcBef>
              <a:defRPr sz="800">
                <a:solidFill>
                  <a:srgbClr val="334155"/>
                </a:solidFill>
                <a:latin typeface="Segoe UI"/>
              </a:defRPr>
            </a:pPr>
            <a:r>
              <a:t>• Cosine Similarity Matrix</a:t>
            </a:r>
          </a:p>
          <a:p>
            <a:pPr>
              <a:spcBef>
                <a:spcPts val="300"/>
              </a:spcBef>
              <a:defRPr sz="800">
                <a:solidFill>
                  <a:srgbClr val="334155"/>
                </a:solidFill>
                <a:latin typeface="Segoe UI"/>
              </a:defRPr>
            </a:pPr>
            <a:r>
              <a:t>• Offset Calculation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949440" y="2679192"/>
            <a:ext cx="457200" cy="219456"/>
          </a:xfrm>
          <a:prstGeom prst="rightArrow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452360" y="2103120"/>
            <a:ext cx="1691640" cy="13716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54864" rIns="54864" bIns="54864"/>
          <a:lstStyle/>
          <a:p>
            <a:pPr algn="l">
              <a:defRPr sz="1100" b="1">
                <a:solidFill>
                  <a:srgbClr val="0F172A"/>
                </a:solidFill>
                <a:latin typeface="Segoe UI"/>
              </a:defRPr>
            </a:pPr>
            <a:r>
              <a:t>Structured Scoring</a:t>
            </a:r>
            <a:br/>
            <a:r>
              <a:t>&amp; Multipliers</a:t>
            </a:r>
          </a:p>
          <a:p>
            <a:pPr>
              <a:spcBef>
                <a:spcPts val="300"/>
              </a:spcBef>
              <a:defRPr sz="800">
                <a:solidFill>
                  <a:srgbClr val="334155"/>
                </a:solidFill>
                <a:latin typeface="Segoe UI"/>
              </a:defRPr>
            </a:pPr>
            <a:r>
              <a:t>• Exp / Title / Skill weights</a:t>
            </a:r>
          </a:p>
          <a:p>
            <a:pPr>
              <a:spcBef>
                <a:spcPts val="300"/>
              </a:spcBef>
              <a:defRPr sz="800">
                <a:solidFill>
                  <a:srgbClr val="334155"/>
                </a:solidFill>
                <a:latin typeface="Segoe UI"/>
              </a:defRPr>
            </a:pPr>
            <a:r>
              <a:t>• Location Relocation Mult</a:t>
            </a:r>
          </a:p>
          <a:p>
            <a:pPr>
              <a:spcBef>
                <a:spcPts val="300"/>
              </a:spcBef>
              <a:defRPr sz="800">
                <a:solidFill>
                  <a:srgbClr val="334155"/>
                </a:solidFill>
                <a:latin typeface="Segoe UI"/>
              </a:defRPr>
            </a:pPr>
            <a:r>
              <a:t>• Notice Period &amp; Behavior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189720" y="2679192"/>
            <a:ext cx="457200" cy="219456"/>
          </a:xfrm>
          <a:prstGeom prst="rightArrow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692640" y="2103120"/>
            <a:ext cx="1691640" cy="13716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54864" rIns="54864" bIns="54864"/>
          <a:lstStyle/>
          <a:p>
            <a:pPr algn="l">
              <a:defRPr sz="1100" b="1">
                <a:solidFill>
                  <a:srgbClr val="0F172A"/>
                </a:solidFill>
                <a:latin typeface="Segoe UI"/>
              </a:defRPr>
            </a:pPr>
            <a:r>
              <a:t>Ranking</a:t>
            </a:r>
            <a:br/>
            <a:r>
              <a:t>&amp; Export Layer</a:t>
            </a:r>
          </a:p>
          <a:p>
            <a:pPr>
              <a:spcBef>
                <a:spcPts val="300"/>
              </a:spcBef>
              <a:defRPr sz="800">
                <a:solidFill>
                  <a:srgbClr val="334155"/>
                </a:solidFill>
                <a:latin typeface="Segoe UI"/>
              </a:defRPr>
            </a:pPr>
            <a:r>
              <a:t>• Tie-breaker Sort</a:t>
            </a:r>
          </a:p>
          <a:p>
            <a:pPr>
              <a:spcBef>
                <a:spcPts val="300"/>
              </a:spcBef>
              <a:defRPr sz="800">
                <a:solidFill>
                  <a:srgbClr val="334155"/>
                </a:solidFill>
                <a:latin typeface="Segoe UI"/>
              </a:defRPr>
            </a:pPr>
            <a:r>
              <a:t>• Factual Reasoning Comp</a:t>
            </a:r>
          </a:p>
          <a:p>
            <a:pPr>
              <a:spcBef>
                <a:spcPts val="300"/>
              </a:spcBef>
              <a:defRPr sz="800">
                <a:solidFill>
                  <a:srgbClr val="334155"/>
                </a:solidFill>
                <a:latin typeface="Segoe UI"/>
              </a:defRPr>
            </a:pPr>
            <a:r>
              <a:t>• vamsi_krishna.csv Out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840480"/>
            <a:ext cx="10820095" cy="2194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0F172A"/>
                </a:solidFill>
                <a:latin typeface="Segoe UI"/>
              </a:defRPr>
            </a:pPr>
            <a:r>
              <a:t>Pipeline Highlights:</a:t>
            </a:r>
          </a:p>
          <a:p>
            <a:pPr>
              <a:spcBef>
                <a:spcPts val="500"/>
              </a:spcBef>
              <a:defRPr sz="1200">
                <a:solidFill>
                  <a:srgbClr val="334155"/>
                </a:solidFill>
                <a:latin typeface="Segoe UI"/>
              </a:defRPr>
            </a:pPr>
            <a:r>
              <a:t>✔  Streaming Execution: Reads JSONL records line-by-line using a memory-efficient generator to process 100K profiles under 500MB RAM.</a:t>
            </a:r>
          </a:p>
          <a:p>
            <a:pPr>
              <a:spcBef>
                <a:spcPts val="500"/>
              </a:spcBef>
              <a:defRPr sz="1200">
                <a:solidFill>
                  <a:srgbClr val="334155"/>
                </a:solidFill>
                <a:latin typeface="Segoe UI"/>
              </a:defRPr>
            </a:pPr>
            <a:r>
              <a:t>✔  Deterministic Fusion: Melds semantic similarity with multi-criteria physical compatibility multipliers (location, availability, and engagement metrics) to produce a unified score.</a:t>
            </a:r>
          </a:p>
          <a:p>
            <a:pPr>
              <a:spcBef>
                <a:spcPts val="500"/>
              </a:spcBef>
              <a:defRPr sz="1200">
                <a:solidFill>
                  <a:srgbClr val="334155"/>
                </a:solidFill>
                <a:latin typeface="Segoe UI"/>
              </a:defRPr>
            </a:pPr>
            <a:r>
              <a:t>✔  Ground-Truth Compliance: Evaluates and handles ties via deterministic ID sorting and filters 100% of honeypot anomalies.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40080" y="1828800"/>
            <a:ext cx="10911535" cy="44805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920240"/>
            <a:ext cx="51206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600" b="1">
                <a:solidFill>
                  <a:srgbClr val="0F172A"/>
                </a:solidFill>
                <a:latin typeface="Segoe UI"/>
              </a:defRPr>
            </a:pPr>
            <a:r>
              <a:t>• Execution Benchmarks</a:t>
            </a:r>
          </a:p>
          <a:p>
            <a:pPr>
              <a:spcAft>
                <a:spcPts val="2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   Total Runtime: 117.07 seconds end-to-end (well within the 5-minute constraint).</a:t>
            </a:r>
          </a:p>
          <a:p>
            <a:pPr>
              <a:spcAft>
                <a:spcPts val="2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   Memory Footprint: Under 500 MB RAM peak (limit is 16 GB).</a:t>
            </a:r>
          </a:p>
          <a:p>
            <a:pPr>
              <a:spcAft>
                <a:spcPts val="2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   Honeypot Removal: 100% of the 94 identified fake candidates were caught and excluded (Honeypot rate = 0% in top 100).</a:t>
            </a:r>
          </a:p>
          <a:p>
            <a:pPr>
              <a:spcAft>
                <a:spcPts val="2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   Format Verification: 100% Validated via validate_submission.py.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82512" y="1920240"/>
            <a:ext cx="51206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600" b="1">
                <a:solidFill>
                  <a:srgbClr val="0F172A"/>
                </a:solidFill>
                <a:latin typeface="Segoe UI"/>
              </a:defRPr>
            </a:pPr>
            <a:r>
              <a:t>• Ranking Insights &amp; Quality</a:t>
            </a:r>
          </a:p>
          <a:p>
            <a:pPr>
              <a:spcAft>
                <a:spcPts val="2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   Top Match (CAND_0081846): 6.7 years of experience, current title matches Senior AI Engineer, expertise in Elasticsearch &amp; Vector Search, Noida/Pune compatible.</a:t>
            </a:r>
          </a:p>
          <a:p>
            <a:pPr>
              <a:spcAft>
                <a:spcPts val="2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   Rank 2 (CAND_0018499): 7.2 years, expert in Weaviate &amp; Pinecone, 15-day notice period.</a:t>
            </a:r>
          </a:p>
          <a:p>
            <a:pPr>
              <a:spcAft>
                <a:spcPts val="2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   Rank 3 (CAND_0039754): 16.2 years, expert in Fine-tuning LLMs, Qdrant, OpenSearch, noted experience seniority concern.</a:t>
            </a:r>
          </a:p>
          <a:p>
            <a:pPr>
              <a:spcAft>
                <a:spcPts val="2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   Rank 5 (CAND_0099806): 4.6 years, expert in RAG &amp; FAISS, noted experience slightly below range.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40080" y="1828800"/>
            <a:ext cx="10911535" cy="44805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920240"/>
            <a:ext cx="51206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600" b="1">
                <a:solidFill>
                  <a:srgbClr val="0F172A"/>
                </a:solidFill>
                <a:latin typeface="Segoe UI"/>
              </a:defRPr>
            </a:pPr>
            <a:r>
              <a:t>• Codebase &amp; Core Stack</a:t>
            </a:r>
          </a:p>
          <a:p>
            <a:pPr>
              <a:spcAft>
                <a:spcPts val="2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   Python: Standard language for pipeline scripting, streaming generator pipelines, and YAML parsing.</a:t>
            </a:r>
          </a:p>
          <a:p>
            <a:pPr>
              <a:spcAft>
                <a:spcPts val="2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   Scikit-learn: Utilized TfidfVectorizer for vector representation and cosine_similarity matrix operations.</a:t>
            </a:r>
          </a:p>
          <a:p>
            <a:pPr>
              <a:spcAft>
                <a:spcPts val="2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   NumPy &amp; Pandas: Used for vectorized candidate matrix sorting, fast scoring calculations, and CSV operations.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82512" y="1920240"/>
            <a:ext cx="51206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600" b="1">
                <a:solidFill>
                  <a:srgbClr val="0F172A"/>
                </a:solidFill>
                <a:latin typeface="Segoe UI"/>
              </a:defRPr>
            </a:pPr>
            <a:r>
              <a:t>• Design Rationale</a:t>
            </a:r>
          </a:p>
          <a:p>
            <a:pPr>
              <a:spcAft>
                <a:spcPts val="2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   Zero-GPU requirement: Opted for TF-IDF + Cosine similarity over Transformer embeddings to run local scoring within the tight CPU timeline.</a:t>
            </a:r>
          </a:p>
          <a:p>
            <a:pPr>
              <a:spcAft>
                <a:spcPts val="2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   Streaming/Iterative parsing: Reads JSONL line-by-line to stay well within the 16 GB memory limit.</a:t>
            </a:r>
          </a:p>
          <a:p>
            <a:pPr>
              <a:spcAft>
                <a:spcPts val="2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   Rule-based compilation: Uses deterministic template logic for generating explanations, guaranteeing speed, zero API cost, and zero hallucinations.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40080" y="1828800"/>
            <a:ext cx="10911535" cy="44805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920240"/>
            <a:ext cx="51206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600" b="1">
                <a:solidFill>
                  <a:srgbClr val="0F172A"/>
                </a:solidFill>
                <a:latin typeface="Segoe UI"/>
              </a:defRPr>
            </a:pPr>
            <a:r>
              <a:t>• Completed Deliverables</a:t>
            </a:r>
          </a:p>
          <a:p>
            <a:pPr>
              <a:spcAft>
                <a:spcPts val="2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   GitHub Repository: https://github.com/vamsi-2003/data-ai-challenge</a:t>
            </a:r>
          </a:p>
          <a:p>
            <a:pPr>
              <a:spcAft>
                <a:spcPts val="2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   HuggingFace Space Demo Link: https://huggingface.co/spaces/vamsi-2003/data-ai-challenge</a:t>
            </a:r>
          </a:p>
          <a:p>
            <a:pPr>
              <a:spcAft>
                <a:spcPts val="2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   Ranked Output (CSV): vamsi_krishna.csv (contains the top 100 candidates with custom rationales)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82512" y="1920240"/>
            <a:ext cx="51206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600" b="1">
                <a:solidFill>
                  <a:srgbClr val="0F172A"/>
                </a:solidFill>
                <a:latin typeface="Segoe UI"/>
              </a:defRPr>
            </a:pPr>
            <a:r>
              <a:t>• Submission Configuration</a:t>
            </a:r>
          </a:p>
          <a:p>
            <a:pPr>
              <a:spcAft>
                <a:spcPts val="2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   Submission Metadata: submission_metadata.yaml (containing team name, leader name, and methodology)</a:t>
            </a:r>
          </a:p>
          <a:p>
            <a:pPr>
              <a:spcAft>
                <a:spcPts val="200"/>
              </a:spcAft>
              <a:defRPr sz="1200">
                <a:solidFill>
                  <a:srgbClr val="334155"/>
                </a:solidFill>
                <a:latin typeface="Segoe UI"/>
              </a:defRPr>
            </a:pPr>
            <a:r>
              <a:t>   Approach Presentation: vamsi_krishna_approach.pptx (this generated slide deck, ready for PDF export)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303520"/>
            <a:ext cx="1036289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Team Name: vamsi krishna   |   Leader Name: vamshi krishna vemula(leader)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